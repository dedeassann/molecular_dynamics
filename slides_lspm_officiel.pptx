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59" r:id="rId13"/>
  </p:sldIdLst>
  <p:sldSz cx="9144000" cy="6858000" type="screen4x3"/>
  <p:notesSz cx="6781800" cy="9926638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C3EC"/>
    <a:srgbClr val="81C4EE"/>
    <a:srgbClr val="83C4EC"/>
    <a:srgbClr val="5D8BB4"/>
    <a:srgbClr val="6798BF"/>
    <a:srgbClr val="3F6388"/>
    <a:srgbClr val="82C3EB"/>
    <a:srgbClr val="82C2EA"/>
    <a:srgbClr val="567CA3"/>
    <a:srgbClr val="4063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7" autoAdjust="0"/>
    <p:restoredTop sz="94027" autoAdjust="0"/>
  </p:normalViewPr>
  <p:slideViewPr>
    <p:cSldViewPr>
      <p:cViewPr varScale="1">
        <p:scale>
          <a:sx n="70" d="100"/>
          <a:sy n="70" d="100"/>
        </p:scale>
        <p:origin x="79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8780" cy="496332"/>
          </a:xfrm>
          <a:prstGeom prst="rect">
            <a:avLst/>
          </a:prstGeom>
        </p:spPr>
        <p:txBody>
          <a:bodyPr vert="horz" lIns="91436" tIns="45718" rIns="91436" bIns="45718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41451" y="1"/>
            <a:ext cx="2938780" cy="496332"/>
          </a:xfrm>
          <a:prstGeom prst="rect">
            <a:avLst/>
          </a:prstGeom>
        </p:spPr>
        <p:txBody>
          <a:bodyPr vert="horz" lIns="91436" tIns="45718" rIns="91436" bIns="45718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9E228B1-460D-4AE4-B993-04CF758C8414}" type="datetimeFigureOut">
              <a:rPr lang="en-GB"/>
              <a:pPr>
                <a:defRPr/>
              </a:pPr>
              <a:t>01/07/2024</a:t>
            </a:fld>
            <a:endParaRPr lang="en-GB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38780" cy="496332"/>
          </a:xfrm>
          <a:prstGeom prst="rect">
            <a:avLst/>
          </a:prstGeom>
        </p:spPr>
        <p:txBody>
          <a:bodyPr vert="horz" lIns="91436" tIns="45718" rIns="91436" bIns="45718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41451" y="9428584"/>
            <a:ext cx="2938780" cy="496332"/>
          </a:xfrm>
          <a:prstGeom prst="rect">
            <a:avLst/>
          </a:prstGeom>
        </p:spPr>
        <p:txBody>
          <a:bodyPr vert="horz" lIns="91436" tIns="45718" rIns="91436" bIns="45718" rtlCol="0" anchor="b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959A12A-1EBB-4019-8256-B924663AED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1139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38780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1451" y="1"/>
            <a:ext cx="2938780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9638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8180" y="4715154"/>
            <a:ext cx="5425440" cy="446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Cliquez pour modifier les styles du texte du masque</a:t>
            </a:r>
          </a:p>
          <a:p>
            <a:pPr lvl="1"/>
            <a:r>
              <a:rPr lang="en-US" noProof="0"/>
              <a:t>Deuxième niveau</a:t>
            </a:r>
          </a:p>
          <a:p>
            <a:pPr lvl="2"/>
            <a:r>
              <a:rPr lang="en-US" noProof="0"/>
              <a:t>Troisième niveau</a:t>
            </a:r>
          </a:p>
          <a:p>
            <a:pPr lvl="3"/>
            <a:r>
              <a:rPr lang="en-US" noProof="0"/>
              <a:t>Quatrième niveau</a:t>
            </a:r>
          </a:p>
          <a:p>
            <a:pPr lvl="4"/>
            <a:r>
              <a:rPr lang="en-US" noProof="0"/>
              <a:t>Cinquième niveau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4"/>
            <a:ext cx="2938780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6" tIns="45718" rIns="91436" bIns="45718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1451" y="9428584"/>
            <a:ext cx="2938780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6" tIns="45718" rIns="91436" bIns="4571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5FE9FE9C-03FC-4B29-9A62-0E5C9AD44A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1898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7544" y="1268761"/>
            <a:ext cx="8280920" cy="1440160"/>
          </a:xfrm>
        </p:spPr>
        <p:txBody>
          <a:bodyPr anchor="ctr" anchorCtr="0">
            <a:normAutofit/>
          </a:bodyPr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395536" y="3123819"/>
            <a:ext cx="5544616" cy="2681445"/>
          </a:xfrm>
        </p:spPr>
        <p:txBody>
          <a:bodyPr>
            <a:normAutofit/>
          </a:bodyPr>
          <a:lstStyle>
            <a:lvl1pPr marL="0" marR="0" indent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7" name="Rectangle 21"/>
          <p:cNvSpPr>
            <a:spLocks noChangeArrowheads="1"/>
          </p:cNvSpPr>
          <p:nvPr userDrawn="1"/>
        </p:nvSpPr>
        <p:spPr bwMode="auto">
          <a:xfrm>
            <a:off x="3851275" y="115888"/>
            <a:ext cx="119455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  <a:latin typeface="Georgia" pitchFamily="18" charset="0"/>
              </a:rPr>
              <a:t>Texte</a:t>
            </a:r>
          </a:p>
        </p:txBody>
      </p:sp>
      <p:pic>
        <p:nvPicPr>
          <p:cNvPr id="8" name="Picture 490" descr="LOGO_LSPM_CMJ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638" y="177364"/>
            <a:ext cx="113347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7" descr="C:\Documents and Settings\kamel Baba\Bureau\logo_cnrs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49" y="137900"/>
            <a:ext cx="720725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 descr="https://galilee.univ-paris13.fr/wp-content/uploads/logo-Institut-Galilee-UP13.jp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2592" y="156741"/>
            <a:ext cx="1686080" cy="696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Espace réservé du texte 22"/>
          <p:cNvSpPr>
            <a:spLocks noGrp="1"/>
          </p:cNvSpPr>
          <p:nvPr>
            <p:ph type="body" sz="quarter" idx="10"/>
          </p:nvPr>
        </p:nvSpPr>
        <p:spPr>
          <a:xfrm>
            <a:off x="395536" y="5950099"/>
            <a:ext cx="8352928" cy="503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24" name="Forme en L 23"/>
          <p:cNvSpPr/>
          <p:nvPr userDrawn="1"/>
        </p:nvSpPr>
        <p:spPr>
          <a:xfrm>
            <a:off x="225959" y="1667032"/>
            <a:ext cx="8522505" cy="1248087"/>
          </a:xfrm>
          <a:prstGeom prst="corner">
            <a:avLst>
              <a:gd name="adj1" fmla="val 12375"/>
              <a:gd name="adj2" fmla="val 14726"/>
            </a:avLst>
          </a:prstGeom>
          <a:gradFill flip="none" rotWithShape="1">
            <a:gsLst>
              <a:gs pos="0">
                <a:srgbClr val="01203F"/>
              </a:gs>
              <a:gs pos="23000">
                <a:srgbClr val="567CA3"/>
              </a:gs>
              <a:gs pos="100000">
                <a:srgbClr val="83C4EC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space réservé pour une image  13"/>
          <p:cNvSpPr>
            <a:spLocks noGrp="1"/>
          </p:cNvSpPr>
          <p:nvPr>
            <p:ph type="pic" sz="quarter" idx="11"/>
          </p:nvPr>
        </p:nvSpPr>
        <p:spPr>
          <a:xfrm>
            <a:off x="6048464" y="3105264"/>
            <a:ext cx="2700000" cy="2700000"/>
          </a:xfrm>
          <a:prstGeom prst="ellipse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1600"/>
            </a:lvl1pPr>
          </a:lstStyle>
          <a:p>
            <a:endParaRPr lang="fr-FR"/>
          </a:p>
        </p:txBody>
      </p:sp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8864" y="180420"/>
            <a:ext cx="1657474" cy="717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316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566720" cy="792088"/>
          </a:xfrm>
        </p:spPr>
        <p:txBody>
          <a:bodyPr/>
          <a:lstStyle>
            <a:lvl1pPr algn="l">
              <a:defRPr/>
            </a:lvl1pPr>
          </a:lstStyle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1520" y="1269908"/>
            <a:ext cx="8640960" cy="4856257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1" name="Forme en L 10"/>
          <p:cNvSpPr/>
          <p:nvPr userDrawn="1"/>
        </p:nvSpPr>
        <p:spPr>
          <a:xfrm>
            <a:off x="179512" y="508001"/>
            <a:ext cx="8710736" cy="616743"/>
          </a:xfrm>
          <a:prstGeom prst="corner">
            <a:avLst>
              <a:gd name="adj1" fmla="val 12375"/>
              <a:gd name="adj2" fmla="val 14726"/>
            </a:avLst>
          </a:prstGeom>
          <a:gradFill flip="none" rotWithShape="1">
            <a:gsLst>
              <a:gs pos="0">
                <a:srgbClr val="01203F"/>
              </a:gs>
              <a:gs pos="23000">
                <a:srgbClr val="567CA3"/>
              </a:gs>
              <a:gs pos="100000">
                <a:srgbClr val="83C4EC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space réservé du pied de page 26"/>
          <p:cNvSpPr>
            <a:spLocks noGrp="1"/>
          </p:cNvSpPr>
          <p:nvPr>
            <p:ph type="ftr" sz="quarter" idx="11"/>
          </p:nvPr>
        </p:nvSpPr>
        <p:spPr>
          <a:xfrm>
            <a:off x="2627784" y="6356350"/>
            <a:ext cx="54006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 dirty="0"/>
              <a:t>CONFERENCE - Ville, Pays - Date</a:t>
            </a:r>
          </a:p>
        </p:txBody>
      </p:sp>
      <p:sp>
        <p:nvSpPr>
          <p:cNvPr id="28" name="Espace réservé du numéro de diapositive 27"/>
          <p:cNvSpPr>
            <a:spLocks noGrp="1"/>
          </p:cNvSpPr>
          <p:nvPr>
            <p:ph type="sldNum" sz="quarter" idx="12"/>
          </p:nvPr>
        </p:nvSpPr>
        <p:spPr>
          <a:xfrm>
            <a:off x="8172400" y="6343334"/>
            <a:ext cx="717848" cy="378141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fld id="{BCB85A95-E1CC-4DC7-938C-5BF23467050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9" name="Forme en L 28"/>
          <p:cNvSpPr/>
          <p:nvPr userDrawn="1"/>
        </p:nvSpPr>
        <p:spPr>
          <a:xfrm flipH="1" flipV="1">
            <a:off x="251520" y="6271326"/>
            <a:ext cx="8712968" cy="473395"/>
          </a:xfrm>
          <a:prstGeom prst="corner">
            <a:avLst>
              <a:gd name="adj1" fmla="val 12375"/>
              <a:gd name="adj2" fmla="val 14726"/>
            </a:avLst>
          </a:prstGeom>
          <a:gradFill flip="none" rotWithShape="1">
            <a:gsLst>
              <a:gs pos="0">
                <a:srgbClr val="3F6388"/>
              </a:gs>
              <a:gs pos="23000">
                <a:srgbClr val="6798BF"/>
              </a:gs>
              <a:gs pos="100000">
                <a:srgbClr val="83C4EC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490" descr="LOGO_LSPM_CMJ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381328"/>
            <a:ext cx="597149" cy="37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7" descr="C:\Documents and Settings\kamel Baba\Bureau\logo_cnrs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373451"/>
            <a:ext cx="379700" cy="377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6386883"/>
            <a:ext cx="864096" cy="374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9973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568952" cy="792088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1520" y="1270563"/>
            <a:ext cx="4244280" cy="48556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GB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70564"/>
            <a:ext cx="4244280" cy="48556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4" name="Forme en L 13"/>
          <p:cNvSpPr/>
          <p:nvPr userDrawn="1"/>
        </p:nvSpPr>
        <p:spPr>
          <a:xfrm>
            <a:off x="179512" y="508001"/>
            <a:ext cx="8710736" cy="616743"/>
          </a:xfrm>
          <a:prstGeom prst="corner">
            <a:avLst>
              <a:gd name="adj1" fmla="val 12375"/>
              <a:gd name="adj2" fmla="val 14726"/>
            </a:avLst>
          </a:prstGeom>
          <a:gradFill flip="none" rotWithShape="1">
            <a:gsLst>
              <a:gs pos="0">
                <a:srgbClr val="01203F"/>
              </a:gs>
              <a:gs pos="23000">
                <a:srgbClr val="567CA3"/>
              </a:gs>
              <a:gs pos="100000">
                <a:srgbClr val="83C4EC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627784" y="6356350"/>
            <a:ext cx="54006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 dirty="0"/>
              <a:t>CONFERENCE - Ville, Pays - Date</a:t>
            </a:r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2"/>
          </p:nvPr>
        </p:nvSpPr>
        <p:spPr>
          <a:xfrm>
            <a:off x="8172400" y="6356350"/>
            <a:ext cx="71784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fld id="{BCB85A95-E1CC-4DC7-938C-5BF23467050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9" name="Forme en L 18"/>
          <p:cNvSpPr/>
          <p:nvPr userDrawn="1"/>
        </p:nvSpPr>
        <p:spPr>
          <a:xfrm flipH="1" flipV="1">
            <a:off x="251520" y="6271326"/>
            <a:ext cx="8712968" cy="473395"/>
          </a:xfrm>
          <a:prstGeom prst="corner">
            <a:avLst>
              <a:gd name="adj1" fmla="val 12375"/>
              <a:gd name="adj2" fmla="val 14726"/>
            </a:avLst>
          </a:prstGeom>
          <a:gradFill flip="none" rotWithShape="1">
            <a:gsLst>
              <a:gs pos="0">
                <a:srgbClr val="3F6388"/>
              </a:gs>
              <a:gs pos="23000">
                <a:srgbClr val="6798BF"/>
              </a:gs>
              <a:gs pos="100000">
                <a:srgbClr val="83C4EC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90" descr="LOGO_LSPM_CMJ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381328"/>
            <a:ext cx="597149" cy="37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7" descr="C:\Documents and Settings\kamel Baba\Bureau\logo_cnrs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373451"/>
            <a:ext cx="379700" cy="377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6386883"/>
            <a:ext cx="864096" cy="374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8797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568952" cy="792088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8" name="Forme en L 7"/>
          <p:cNvSpPr/>
          <p:nvPr userDrawn="1"/>
        </p:nvSpPr>
        <p:spPr>
          <a:xfrm>
            <a:off x="179512" y="508001"/>
            <a:ext cx="8710736" cy="616743"/>
          </a:xfrm>
          <a:prstGeom prst="corner">
            <a:avLst>
              <a:gd name="adj1" fmla="val 12375"/>
              <a:gd name="adj2" fmla="val 14726"/>
            </a:avLst>
          </a:prstGeom>
          <a:gradFill flip="none" rotWithShape="1">
            <a:gsLst>
              <a:gs pos="0">
                <a:srgbClr val="01203F"/>
              </a:gs>
              <a:gs pos="23000">
                <a:srgbClr val="567CA3"/>
              </a:gs>
              <a:gs pos="100000">
                <a:srgbClr val="83C4EC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orme en L 3"/>
          <p:cNvSpPr/>
          <p:nvPr userDrawn="1"/>
        </p:nvSpPr>
        <p:spPr>
          <a:xfrm flipH="1" flipV="1">
            <a:off x="251520" y="6271326"/>
            <a:ext cx="8712968" cy="473395"/>
          </a:xfrm>
          <a:prstGeom prst="corner">
            <a:avLst>
              <a:gd name="adj1" fmla="val 12375"/>
              <a:gd name="adj2" fmla="val 14726"/>
            </a:avLst>
          </a:prstGeom>
          <a:gradFill flip="none" rotWithShape="1">
            <a:gsLst>
              <a:gs pos="0">
                <a:srgbClr val="3F6388"/>
              </a:gs>
              <a:gs pos="23000">
                <a:srgbClr val="6798BF"/>
              </a:gs>
              <a:gs pos="100000">
                <a:srgbClr val="83C4EC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Picture 490" descr="LOGO_LSPM_CMJ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381328"/>
            <a:ext cx="597149" cy="37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7" descr="C:\Documents and Settings\kamel Baba\Bureau\logo_cnrs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373451"/>
            <a:ext cx="379700" cy="377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>
          <a:xfrm>
            <a:off x="8172400" y="6376243"/>
            <a:ext cx="720080" cy="365125"/>
          </a:xfrm>
        </p:spPr>
        <p:txBody>
          <a:bodyPr vert="horz" lIns="91440" tIns="45720" rIns="91440" bIns="45720" rtlCol="0" anchor="ctr"/>
          <a:lstStyle>
            <a:lvl1pPr algn="r" rtl="0" fontAlgn="base">
              <a:spcBef>
                <a:spcPct val="0"/>
              </a:spcBef>
              <a:spcAft>
                <a:spcPct val="0"/>
              </a:spcAft>
              <a:defRPr lang="fr-FR" sz="1200" kern="1200" smtClean="0">
                <a:solidFill>
                  <a:schemeClr val="tx2"/>
                </a:solidFill>
                <a:latin typeface="+mj-lt"/>
                <a:ea typeface="+mn-ea"/>
                <a:cs typeface="Arial" charset="0"/>
              </a:defRPr>
            </a:lvl1pPr>
          </a:lstStyle>
          <a:p>
            <a:fld id="{BCB85A95-E1CC-4DC7-938C-5BF23467050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2"/>
          </p:nvPr>
        </p:nvSpPr>
        <p:spPr>
          <a:xfrm>
            <a:off x="2627784" y="6356350"/>
            <a:ext cx="5400600" cy="365125"/>
          </a:xfrm>
        </p:spPr>
        <p:txBody>
          <a:bodyPr vert="horz" lIns="91440" tIns="45720" rIns="91440" bIns="45720" rtlCol="0"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fr-FR" sz="1200" kern="1200" smtClean="0">
                <a:solidFill>
                  <a:schemeClr val="tx2"/>
                </a:solidFill>
                <a:latin typeface="+mj-lt"/>
                <a:ea typeface="+mn-ea"/>
                <a:cs typeface="Arial" charset="0"/>
              </a:defRPr>
            </a:lvl1pPr>
          </a:lstStyle>
          <a:p>
            <a:r>
              <a:rPr lang="fr-FR"/>
              <a:t>CONFERENCE - Ville, Pays - Date</a:t>
            </a:r>
            <a:endParaRPr lang="fr-FR" dirty="0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6386883"/>
            <a:ext cx="864096" cy="374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6283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183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640960" cy="994122"/>
          </a:xfrm>
          <a:prstGeom prst="rect">
            <a:avLst/>
          </a:prstGeom>
          <a:gradFill flip="none" rotWithShape="1">
            <a:gsLst>
              <a:gs pos="0">
                <a:srgbClr val="5D8BB4"/>
              </a:gs>
              <a:gs pos="45000">
                <a:schemeClr val="accent2">
                  <a:lumMod val="20000"/>
                  <a:lumOff val="80000"/>
                </a:schemeClr>
              </a:gs>
              <a:gs pos="26000">
                <a:srgbClr val="81C4EE"/>
              </a:gs>
              <a:gs pos="100000">
                <a:schemeClr val="bg1"/>
              </a:gs>
            </a:gsLst>
            <a:lin ang="18900000" scaled="1"/>
            <a:tileRect/>
          </a:gra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205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251520" y="1484784"/>
            <a:ext cx="8640960" cy="4641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CONFERENCE - Ville, Pays - Date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85A95-E1CC-4DC7-938C-5BF23467050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2" r:id="rId3"/>
    <p:sldLayoutId id="2147483944" r:id="rId4"/>
    <p:sldLayoutId id="2147483945" r:id="rId5"/>
  </p:sldLayoutIdLst>
  <p:hf hdr="0" dt="0"/>
  <p:txStyles>
    <p:titleStyle>
      <a:lvl1pPr marL="180000"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1.gif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>
            <a:noAutofit/>
          </a:bodyPr>
          <a:lstStyle/>
          <a:p>
            <a:r>
              <a:rPr lang="fr-FR" sz="2600" dirty="0"/>
              <a:t>Étude des structures et de la cinétique de croissance d’édifices atomiques par dynamique moléculaire classique</a:t>
            </a:r>
            <a:endParaRPr lang="fr-FR" sz="2600" dirty="0">
              <a:solidFill>
                <a:srgbClr val="FF0000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23528" y="3429000"/>
            <a:ext cx="5544616" cy="208823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r>
              <a:rPr lang="fr-FR" sz="2800" dirty="0"/>
              <a:t>Assann DEDE, Jonathan MOUGENOT</a:t>
            </a:r>
          </a:p>
          <a:p>
            <a:endParaRPr lang="fr-FR" sz="2800" dirty="0"/>
          </a:p>
          <a:p>
            <a:r>
              <a:rPr lang="fr-FR" sz="2800" dirty="0"/>
              <a:t>LSPM UPR 3407 – CNRS</a:t>
            </a:r>
          </a:p>
          <a:p>
            <a:r>
              <a:rPr lang="fr-FR" sz="1900" dirty="0"/>
              <a:t>99 avenue Jean-Baptiste Clément, F-93430 Villetaneuse</a:t>
            </a:r>
          </a:p>
          <a:p>
            <a:r>
              <a:rPr lang="fr-FR" sz="1900" dirty="0"/>
              <a:t>Jonathan.mougenot@lspm.cnrs.fr</a:t>
            </a:r>
          </a:p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fr-FR" dirty="0"/>
              <a:t>Soutenance de stage, LSPM, le 4 juillet 2024</a:t>
            </a:r>
          </a:p>
        </p:txBody>
      </p:sp>
      <p:pic>
        <p:nvPicPr>
          <p:cNvPr id="9" name="Picture Placeholder 8" descr="A blue molecule model on a black background&#10;&#10;Description automatically generated">
            <a:extLst>
              <a:ext uri="{FF2B5EF4-FFF2-40B4-BE49-F238E27FC236}">
                <a16:creationId xmlns:a16="http://schemas.microsoft.com/office/drawing/2014/main" id="{536DC93B-715E-AB1D-9B63-2D25DEF5410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333704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23528" y="188640"/>
            <a:ext cx="8566720" cy="792088"/>
          </a:xfrm>
        </p:spPr>
        <p:txBody>
          <a:bodyPr wrap="square" anchor="b">
            <a:noAutofit/>
          </a:bodyPr>
          <a:lstStyle/>
          <a:p>
            <a:r>
              <a:rPr lang="en-US" sz="3600" dirty="0"/>
              <a:t>La </a:t>
            </a:r>
            <a:r>
              <a:rPr lang="fr-FR" sz="3600" dirty="0"/>
              <a:t>Dynamique</a:t>
            </a:r>
            <a:r>
              <a:rPr lang="en-US" sz="3600" dirty="0"/>
              <a:t> </a:t>
            </a:r>
            <a:r>
              <a:rPr lang="fr-FR" sz="3600" dirty="0"/>
              <a:t>Moléculaire classique</a:t>
            </a:r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2627784" y="6356350"/>
            <a:ext cx="5400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Soutenance de stage, LSPM, le 4 juillet 2024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172400" y="6343334"/>
            <a:ext cx="717848" cy="378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CB85A95-E1CC-4DC7-938C-5BF234670505}" type="slidenum">
              <a:rPr lang="fr-FR" smtClean="0"/>
              <a:pPr>
                <a:spcAft>
                  <a:spcPts val="600"/>
                </a:spcAft>
              </a:pPr>
              <a:t>2</a:t>
            </a:fld>
            <a:endParaRPr lang="fr-FR"/>
          </a:p>
        </p:txBody>
      </p:sp>
      <p:pic>
        <p:nvPicPr>
          <p:cNvPr id="5" name="Simulation dynamique moléculaire_480p">
            <a:hlinkClick r:id="" action="ppaction://media"/>
            <a:extLst>
              <a:ext uri="{FF2B5EF4-FFF2-40B4-BE49-F238E27FC236}">
                <a16:creationId xmlns:a16="http://schemas.microsoft.com/office/drawing/2014/main" id="{32EE4CE9-6B23-7DAE-F59E-06C6D7B524A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21651" r="11407" b="5900"/>
          <a:stretch/>
        </p:blipFill>
        <p:spPr>
          <a:xfrm>
            <a:off x="4932040" y="1196752"/>
            <a:ext cx="4080792" cy="39604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359F0A-BEBA-CAD2-43FE-7D3B57E26145}"/>
              </a:ext>
            </a:extLst>
          </p:cNvPr>
          <p:cNvSpPr txBox="1"/>
          <p:nvPr/>
        </p:nvSpPr>
        <p:spPr>
          <a:xfrm>
            <a:off x="541112" y="1434909"/>
            <a:ext cx="40807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Méthode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simulations numérique à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l'échelle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l’atome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Atomes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soumis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à des forces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Logiciels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simulation</a:t>
            </a:r>
          </a:p>
        </p:txBody>
      </p:sp>
      <p:pic>
        <p:nvPicPr>
          <p:cNvPr id="10" name="Picture 9" descr="A green ball on a black background">
            <a:extLst>
              <a:ext uri="{FF2B5EF4-FFF2-40B4-BE49-F238E27FC236}">
                <a16:creationId xmlns:a16="http://schemas.microsoft.com/office/drawing/2014/main" id="{D0FF155A-091E-2D37-FEDB-7E0D809B124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3192524"/>
            <a:ext cx="2376264" cy="801974"/>
          </a:xfrm>
          <a:prstGeom prst="rect">
            <a:avLst/>
          </a:prstGeom>
        </p:spPr>
      </p:pic>
      <p:pic>
        <p:nvPicPr>
          <p:cNvPr id="12" name="Picture 11" descr="A blue and yellow dots&#10;&#10;Description automatically generated">
            <a:extLst>
              <a:ext uri="{FF2B5EF4-FFF2-40B4-BE49-F238E27FC236}">
                <a16:creationId xmlns:a16="http://schemas.microsoft.com/office/drawing/2014/main" id="{4D2B84DE-6C03-FD1B-00E2-6FC37E0668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61" y="4551784"/>
            <a:ext cx="36576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67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6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CE398-4883-DC9E-83ED-11D0F6DCC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Objectifs</a:t>
            </a:r>
            <a:r>
              <a:rPr lang="en-US" dirty="0"/>
              <a:t> du stage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4C261-DAE0-99EB-B53B-B6536A3C4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Apprendre</a:t>
            </a:r>
            <a:r>
              <a:rPr lang="en-US" dirty="0"/>
              <a:t> à </a:t>
            </a:r>
            <a:r>
              <a:rPr lang="en-US" dirty="0" err="1"/>
              <a:t>utiliser</a:t>
            </a:r>
            <a:r>
              <a:rPr lang="en-US" dirty="0"/>
              <a:t> LAMMPS et OVITO</a:t>
            </a:r>
          </a:p>
          <a:p>
            <a:r>
              <a:rPr lang="en-US" dirty="0" err="1"/>
              <a:t>Reproduire</a:t>
            </a:r>
            <a:r>
              <a:rPr lang="en-US" dirty="0"/>
              <a:t> les clusters de </a:t>
            </a:r>
            <a:r>
              <a:rPr lang="en-US" dirty="0" err="1"/>
              <a:t>carbones</a:t>
            </a:r>
            <a:r>
              <a:rPr lang="en-US" dirty="0"/>
              <a:t> stables</a:t>
            </a:r>
          </a:p>
          <a:p>
            <a:r>
              <a:rPr lang="en-US" dirty="0" err="1"/>
              <a:t>Établir</a:t>
            </a:r>
            <a:r>
              <a:rPr lang="en-US" dirty="0"/>
              <a:t> les differences entre la liaison </a:t>
            </a:r>
            <a:r>
              <a:rPr lang="en-US" dirty="0" err="1"/>
              <a:t>métallique</a:t>
            </a:r>
            <a:r>
              <a:rPr lang="en-US" dirty="0"/>
              <a:t> et la liaison </a:t>
            </a:r>
            <a:r>
              <a:rPr lang="en-US" dirty="0" err="1"/>
              <a:t>covalente</a:t>
            </a:r>
            <a:endParaRPr lang="en-US" dirty="0"/>
          </a:p>
          <a:p>
            <a:r>
              <a:rPr lang="en-US" dirty="0" err="1"/>
              <a:t>Modéliser</a:t>
            </a:r>
            <a:r>
              <a:rPr lang="en-US" dirty="0"/>
              <a:t> des clusters de </a:t>
            </a:r>
            <a:r>
              <a:rPr lang="en-US" dirty="0" err="1"/>
              <a:t>Tungstène</a:t>
            </a:r>
            <a:r>
              <a:rPr lang="en-US" dirty="0"/>
              <a:t> après exposition à stress </a:t>
            </a:r>
            <a:r>
              <a:rPr lang="en-US" dirty="0" err="1"/>
              <a:t>thermique</a:t>
            </a:r>
            <a:endParaRPr lang="fr-FR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711F74-683A-AA53-D85C-B4639852F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fr-FR" dirty="0"/>
              <a:t>Soutenance de stage, LSPM, le 4 juillet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12BABC-ED7D-E700-5802-278483C6E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109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C0471-3CD4-64D2-00B9-63B5DE5F6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de la </a:t>
            </a:r>
            <a:r>
              <a:rPr lang="en-US" dirty="0" err="1"/>
              <a:t>soutenance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5B11D-BEE2-3469-3DCD-D51FC7B29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269908"/>
            <a:ext cx="5544616" cy="4856257"/>
          </a:xfrm>
        </p:spPr>
        <p:txBody>
          <a:bodyPr/>
          <a:lstStyle/>
          <a:p>
            <a:pPr algn="just"/>
            <a:r>
              <a:rPr lang="en-US" sz="2800" dirty="0" err="1"/>
              <a:t>Méthode</a:t>
            </a:r>
            <a:r>
              <a:rPr lang="en-US" sz="2800" dirty="0"/>
              <a:t> CRC, </a:t>
            </a:r>
            <a:r>
              <a:rPr lang="en-US" sz="2800" dirty="0" err="1"/>
              <a:t>présentation</a:t>
            </a:r>
            <a:r>
              <a:rPr lang="en-US" sz="2800" dirty="0"/>
              <a:t> de LAMMPS et OVITO, travaux de la </a:t>
            </a:r>
            <a:r>
              <a:rPr lang="en-US" sz="2800" dirty="0" err="1"/>
              <a:t>docteure</a:t>
            </a:r>
            <a:r>
              <a:rPr lang="en-US" sz="2800" dirty="0"/>
              <a:t> </a:t>
            </a:r>
            <a:r>
              <a:rPr lang="en-US" sz="2800" dirty="0" err="1"/>
              <a:t>Allouch</a:t>
            </a:r>
            <a:r>
              <a:rPr lang="en-US" sz="2800" dirty="0"/>
              <a:t> sur les clusters de Carbone</a:t>
            </a:r>
          </a:p>
          <a:p>
            <a:pPr algn="just"/>
            <a:r>
              <a:rPr lang="en-US" sz="2800" dirty="0" err="1"/>
              <a:t>Présentation</a:t>
            </a:r>
            <a:r>
              <a:rPr lang="en-US" sz="2800" dirty="0"/>
              <a:t> des travaux de la </a:t>
            </a:r>
            <a:r>
              <a:rPr lang="en-US" sz="2800" dirty="0" err="1"/>
              <a:t>docteure</a:t>
            </a:r>
            <a:r>
              <a:rPr lang="en-US" sz="2800" dirty="0"/>
              <a:t> </a:t>
            </a:r>
            <a:r>
              <a:rPr lang="en-US" sz="2800" dirty="0" err="1"/>
              <a:t>Allouch</a:t>
            </a:r>
            <a:r>
              <a:rPr lang="en-US" sz="2800" dirty="0"/>
              <a:t> et des miens sur les clusters de Carbone</a:t>
            </a:r>
          </a:p>
          <a:p>
            <a:pPr algn="just"/>
            <a:r>
              <a:rPr lang="en-US" sz="2800" dirty="0" err="1"/>
              <a:t>Présentation</a:t>
            </a:r>
            <a:r>
              <a:rPr lang="en-US" sz="2800" dirty="0"/>
              <a:t> des travaux sur le </a:t>
            </a:r>
            <a:r>
              <a:rPr lang="en-US" sz="2800" dirty="0" err="1"/>
              <a:t>tungstène</a:t>
            </a:r>
            <a:r>
              <a:rPr lang="en-US" sz="2800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0E716-D461-7F35-F28C-D9E17155F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fr-FR" dirty="0"/>
              <a:t>Soutenance de stage, LSPM, le 4 juillet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1618FE-AB28-D8D0-8F70-8CCDC0423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4</a:t>
            </a:fld>
            <a:endParaRPr lang="fr-FR"/>
          </a:p>
        </p:txBody>
      </p:sp>
      <p:pic>
        <p:nvPicPr>
          <p:cNvPr id="7" name="Picture 6" descr="A BCC Tungsten crystal with blue spheres as tungsten metals.&#10;">
            <a:extLst>
              <a:ext uri="{FF2B5EF4-FFF2-40B4-BE49-F238E27FC236}">
                <a16:creationId xmlns:a16="http://schemas.microsoft.com/office/drawing/2014/main" id="{A64BF9B2-E7A7-4E53-0C9C-42F75D6564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88" t="12987" r="19076" b="9093"/>
          <a:stretch/>
        </p:blipFill>
        <p:spPr>
          <a:xfrm>
            <a:off x="5796136" y="2276872"/>
            <a:ext cx="3292637" cy="308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20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7E3EA-F390-7CC0-EC9A-1D6333C15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Interactions </a:t>
            </a:r>
            <a:r>
              <a:rPr lang="en-US" sz="2800" dirty="0" err="1"/>
              <a:t>atomiques</a:t>
            </a:r>
            <a:r>
              <a:rPr lang="en-US" sz="2800" dirty="0"/>
              <a:t> et </a:t>
            </a:r>
            <a:r>
              <a:rPr lang="en-US" sz="2800" dirty="0" err="1"/>
              <a:t>termes</a:t>
            </a:r>
            <a:r>
              <a:rPr lang="en-US" sz="2800" dirty="0"/>
              <a:t> du </a:t>
            </a:r>
            <a:r>
              <a:rPr lang="en-US" sz="2800" dirty="0" err="1"/>
              <a:t>potentiel</a:t>
            </a:r>
            <a:endParaRPr lang="fr-FR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CCBEBC0-BA03-EDD2-6384-6E032FBA62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691" t="5776" r="10463"/>
          <a:stretch/>
        </p:blipFill>
        <p:spPr>
          <a:xfrm>
            <a:off x="3707903" y="1268760"/>
            <a:ext cx="5088565" cy="4464496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B9C905-34A5-BCB6-7FE2-EC832EB94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fr-FR" dirty="0"/>
              <a:t>Soutenance de stage, LSPM, le 4 juillet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72F7D-CA3B-0FC7-27A4-18364B13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E563D7-B26B-4612-AC82-F01C7285E387}"/>
              </a:ext>
            </a:extLst>
          </p:cNvPr>
          <p:cNvSpPr txBox="1"/>
          <p:nvPr/>
        </p:nvSpPr>
        <p:spPr>
          <a:xfrm>
            <a:off x="320112" y="1484784"/>
            <a:ext cx="33843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Potentiels</a:t>
            </a:r>
            <a:r>
              <a:rPr lang="en-US" b="1" dirty="0"/>
              <a:t> </a:t>
            </a:r>
            <a:r>
              <a:rPr lang="en-US" b="1" dirty="0" err="1"/>
              <a:t>d’ordre</a:t>
            </a:r>
            <a:r>
              <a:rPr lang="en-US" b="1" dirty="0"/>
              <a:t> de liaison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Interaction de paire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Energie de torsion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Ordre de liaison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Énergie</a:t>
            </a:r>
            <a:r>
              <a:rPr lang="en-US" dirty="0"/>
              <a:t> de rotation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Angle de liaison</a:t>
            </a:r>
          </a:p>
        </p:txBody>
      </p:sp>
    </p:spTree>
    <p:extLst>
      <p:ext uri="{BB962C8B-B14F-4D97-AF65-F5344CB8AC3E}">
        <p14:creationId xmlns:p14="http://schemas.microsoft.com/office/powerpoint/2010/main" val="1828115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4B012-AC1A-4071-0820-780A5C1FF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88640"/>
            <a:ext cx="8566720" cy="792088"/>
          </a:xfrm>
        </p:spPr>
        <p:txBody>
          <a:bodyPr wrap="square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dirty="0"/>
              <a:t>Condensation et </a:t>
            </a:r>
            <a:r>
              <a:rPr lang="en-US" sz="3200" dirty="0" err="1"/>
              <a:t>Recuit</a:t>
            </a:r>
            <a:r>
              <a:rPr lang="en-US" sz="3200" dirty="0"/>
              <a:t> </a:t>
            </a:r>
            <a:r>
              <a:rPr lang="en-US" sz="3200" dirty="0" err="1"/>
              <a:t>Combinés</a:t>
            </a:r>
            <a:r>
              <a:rPr lang="en-US" sz="3200" dirty="0"/>
              <a:t> (CRC)</a:t>
            </a:r>
            <a:endParaRPr lang="fr-FR" sz="3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E0D2895-EC08-5621-6B8C-EA49B3AF99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440248" y="1988840"/>
            <a:ext cx="8208913" cy="4020652"/>
          </a:xfr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A53FA-5269-C5C9-41B0-B9137B9FA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7784" y="6356350"/>
            <a:ext cx="5400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Soutenance de stage, LSPM, le 4 juillet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433B99-7D7E-6089-AD71-C965E07E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2400" y="6343334"/>
            <a:ext cx="717848" cy="378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CB85A95-E1CC-4DC7-938C-5BF234670505}" type="slidenum">
              <a:rPr lang="fr-FR" smtClean="0"/>
              <a:pPr>
                <a:spcAft>
                  <a:spcPts val="600"/>
                </a:spcAft>
              </a:pPr>
              <a:t>6</a:t>
            </a:fld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70ACF6-3C54-F5B9-5BEB-EB66FA4298C6}"/>
              </a:ext>
            </a:extLst>
          </p:cNvPr>
          <p:cNvSpPr txBox="1"/>
          <p:nvPr/>
        </p:nvSpPr>
        <p:spPr>
          <a:xfrm>
            <a:off x="747876" y="1331205"/>
            <a:ext cx="764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Diagramme </a:t>
            </a:r>
            <a:r>
              <a:rPr lang="en-US" dirty="0" err="1"/>
              <a:t>représentatif</a:t>
            </a:r>
            <a:r>
              <a:rPr lang="en-US" dirty="0"/>
              <a:t> des 3 étapes </a:t>
            </a:r>
            <a:r>
              <a:rPr lang="en-US" dirty="0" err="1"/>
              <a:t>essentielles</a:t>
            </a:r>
            <a:r>
              <a:rPr lang="en-US" dirty="0"/>
              <a:t> de la </a:t>
            </a:r>
            <a:r>
              <a:rPr lang="en-US" dirty="0" err="1"/>
              <a:t>méthode</a:t>
            </a:r>
            <a:r>
              <a:rPr lang="en-US" dirty="0"/>
              <a:t> CRC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17460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2E2CF7D-D63E-4173-9D06-36BE825A2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88640"/>
            <a:ext cx="8568952" cy="792088"/>
          </a:xfrm>
        </p:spPr>
        <p:txBody>
          <a:bodyPr/>
          <a:lstStyle/>
          <a:p>
            <a:r>
              <a:rPr lang="en-US" dirty="0" err="1"/>
              <a:t>Logiciels</a:t>
            </a:r>
            <a:r>
              <a:rPr lang="en-US" dirty="0"/>
              <a:t> </a:t>
            </a:r>
            <a:r>
              <a:rPr lang="en-US" dirty="0" err="1"/>
              <a:t>utilisés</a:t>
            </a:r>
            <a:r>
              <a:rPr lang="en-US" dirty="0"/>
              <a:t> </a:t>
            </a:r>
          </a:p>
        </p:txBody>
      </p:sp>
      <p:pic>
        <p:nvPicPr>
          <p:cNvPr id="7" name="Picture 6" descr="A green ball on a black background&#10;&#10;Description automatically generated">
            <a:extLst>
              <a:ext uri="{FF2B5EF4-FFF2-40B4-BE49-F238E27FC236}">
                <a16:creationId xmlns:a16="http://schemas.microsoft.com/office/drawing/2014/main" id="{D513E00E-B1B9-B8A7-BED4-6393501516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412776"/>
            <a:ext cx="4244280" cy="1634047"/>
          </a:xfrm>
          <a:prstGeom prst="rect">
            <a:avLst/>
          </a:prstGeom>
          <a:noFill/>
        </p:spPr>
      </p:pic>
      <p:pic>
        <p:nvPicPr>
          <p:cNvPr id="9" name="Content Placeholder 8" descr="A blue and yellow dots&#10;&#10;Description automatically generated">
            <a:extLst>
              <a:ext uri="{FF2B5EF4-FFF2-40B4-BE49-F238E27FC236}">
                <a16:creationId xmlns:a16="http://schemas.microsoft.com/office/drawing/2014/main" id="{3C8D82F0-976A-5BE6-36E9-4AA02911FF7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887" y="1642120"/>
            <a:ext cx="3657600" cy="106680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D25AC5-CA38-7A2F-292E-5EE2413A9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7784" y="6356350"/>
            <a:ext cx="5400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fr-FR"/>
              <a:t>CONFERENCE - Ville, Pays - 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2F392F-0AF0-0314-7BEE-810599A18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2400" y="6356350"/>
            <a:ext cx="7178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CB85A95-E1CC-4DC7-938C-5BF234670505}" type="slidenum">
              <a:rPr lang="fr-FR" smtClean="0"/>
              <a:pPr>
                <a:spcAft>
                  <a:spcPts val="600"/>
                </a:spcAft>
              </a:pPr>
              <a:t>7</a:t>
            </a:fld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0CB515-5BF1-980E-7F92-F847FDFDCEB1}"/>
              </a:ext>
            </a:extLst>
          </p:cNvPr>
          <p:cNvSpPr txBox="1"/>
          <p:nvPr/>
        </p:nvSpPr>
        <p:spPr>
          <a:xfrm>
            <a:off x="467544" y="3429000"/>
            <a:ext cx="4104456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OVITO, ou Open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Tool, est un logiciel de visualisation et d'analyse scientifique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Personnalisation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47BFD6-DE63-FC57-AAAD-EDC80041038C}"/>
              </a:ext>
            </a:extLst>
          </p:cNvPr>
          <p:cNvSpPr txBox="1"/>
          <p:nvPr/>
        </p:nvSpPr>
        <p:spPr>
          <a:xfrm>
            <a:off x="4716016" y="3429000"/>
            <a:ext cx="396044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LAMMPS (Large-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Atomic /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Molecular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Massively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Simulator) est un logiciel de simulation utilisé principalement pour la dynamique moléculaire</a:t>
            </a:r>
          </a:p>
        </p:txBody>
      </p:sp>
    </p:spTree>
    <p:extLst>
      <p:ext uri="{BB962C8B-B14F-4D97-AF65-F5344CB8AC3E}">
        <p14:creationId xmlns:p14="http://schemas.microsoft.com/office/powerpoint/2010/main" val="26404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5ABBD-1A2D-F356-9F35-4724FB248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Structure d’un script LAMMPS</a:t>
            </a:r>
            <a:endParaRPr lang="fr-FR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BDD53-12E9-5E79-1CE6-8A3D1C158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288" y="1484784"/>
            <a:ext cx="8640960" cy="324035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err="1"/>
              <a:t>Initialisation</a:t>
            </a:r>
            <a:r>
              <a:rPr lang="en-US" dirty="0"/>
              <a:t> et conditions </a:t>
            </a:r>
            <a:r>
              <a:rPr lang="en-US" dirty="0" err="1"/>
              <a:t>initiales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err="1"/>
              <a:t>Paramétrage</a:t>
            </a:r>
            <a:r>
              <a:rPr lang="en-US" dirty="0"/>
              <a:t> de </a:t>
            </a:r>
            <a:r>
              <a:rPr lang="en-US" dirty="0" err="1"/>
              <a:t>l'évolution</a:t>
            </a:r>
            <a:r>
              <a:rPr lang="en-US" dirty="0"/>
              <a:t> du </a:t>
            </a:r>
            <a:r>
              <a:rPr lang="en-US" dirty="0" err="1"/>
              <a:t>système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err="1"/>
              <a:t>Définitions</a:t>
            </a:r>
            <a:r>
              <a:rPr lang="en-US" dirty="0"/>
              <a:t> des </a:t>
            </a:r>
            <a:r>
              <a:rPr lang="en-US" dirty="0" err="1"/>
              <a:t>informations</a:t>
            </a:r>
            <a:r>
              <a:rPr lang="en-US" dirty="0"/>
              <a:t> à exporter</a:t>
            </a:r>
          </a:p>
          <a:p>
            <a:pPr algn="just">
              <a:lnSpc>
                <a:spcPct val="150000"/>
              </a:lnSpc>
            </a:pPr>
            <a:r>
              <a:rPr lang="en-US" dirty="0" err="1"/>
              <a:t>Paramétrage</a:t>
            </a:r>
            <a:r>
              <a:rPr lang="en-US" dirty="0"/>
              <a:t> du cycle CRC et choix du thermostat</a:t>
            </a:r>
            <a:endParaRPr lang="fr-FR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702F-D50C-60C3-82D8-6CE9F154A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CONFERENCE - Ville, Pays - Date</a:t>
            </a:r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F166B2-591D-7C1A-BCFE-E60A1945E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6658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B19D1-7557-C9AA-368A-3EC99E93E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88640"/>
            <a:ext cx="8568952" cy="792088"/>
          </a:xfrm>
        </p:spPr>
        <p:txBody>
          <a:bodyPr wrap="square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 err="1"/>
              <a:t>Paramètres</a:t>
            </a:r>
            <a:r>
              <a:rPr lang="en-US" sz="2800" dirty="0"/>
              <a:t> des calculs de la </a:t>
            </a:r>
            <a:r>
              <a:rPr lang="en-US" sz="2800" dirty="0" err="1"/>
              <a:t>docteure</a:t>
            </a:r>
            <a:r>
              <a:rPr lang="en-US" sz="2800" dirty="0"/>
              <a:t> </a:t>
            </a:r>
            <a:r>
              <a:rPr lang="en-US" sz="2800" dirty="0" err="1"/>
              <a:t>Allouch</a:t>
            </a:r>
            <a:endParaRPr lang="fr-FR" sz="280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EA1E68E6-9100-F48C-EEB3-C680038A28AE}"/>
              </a:ext>
            </a:extLst>
          </p:cNvPr>
          <p:cNvGraphicFramePr>
            <a:graphicFrameLocks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33122172"/>
              </p:ext>
            </p:extLst>
          </p:nvPr>
        </p:nvGraphicFramePr>
        <p:xfrm>
          <a:off x="250825" y="1270000"/>
          <a:ext cx="4244974" cy="4790452"/>
        </p:xfrm>
        <a:graphic>
          <a:graphicData uri="http://schemas.openxmlformats.org/drawingml/2006/table">
            <a:tbl>
              <a:tblPr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{8A107856-5554-42FB-B03E-39F5DBC370BA}</a:tableStyleId>
              </a:tblPr>
              <a:tblGrid>
                <a:gridCol w="2122487">
                  <a:extLst>
                    <a:ext uri="{9D8B030D-6E8A-4147-A177-3AD203B41FA5}">
                      <a16:colId xmlns:a16="http://schemas.microsoft.com/office/drawing/2014/main" val="1922877863"/>
                    </a:ext>
                  </a:extLst>
                </a:gridCol>
                <a:gridCol w="2122487">
                  <a:extLst>
                    <a:ext uri="{9D8B030D-6E8A-4147-A177-3AD203B41FA5}">
                      <a16:colId xmlns:a16="http://schemas.microsoft.com/office/drawing/2014/main" val="1022982593"/>
                    </a:ext>
                  </a:extLst>
                </a:gridCol>
              </a:tblGrid>
              <a:tr h="790848">
                <a:tc>
                  <a:txBody>
                    <a:bodyPr/>
                    <a:lstStyle/>
                    <a:p>
                      <a:r>
                        <a:rPr lang="en-US" dirty="0" err="1"/>
                        <a:t>Unités</a:t>
                      </a:r>
                      <a:r>
                        <a:rPr lang="en-US" dirty="0"/>
                        <a:t> de mesure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Ps, Angstrom, grams/mole, eV, K</a:t>
                      </a:r>
                      <a:endParaRPr lang="fr-FR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080163"/>
                  </a:ext>
                </a:extLst>
              </a:tr>
              <a:tr h="759244">
                <a:tc>
                  <a:txBody>
                    <a:bodyPr/>
                    <a:lstStyle/>
                    <a:p>
                      <a:r>
                        <a:rPr lang="en-US" b="1" dirty="0" err="1"/>
                        <a:t>Boîte</a:t>
                      </a:r>
                      <a:r>
                        <a:rPr lang="en-US" b="1" dirty="0"/>
                        <a:t> de simulation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(100 Angstroms)</a:t>
                      </a:r>
                      <a:r>
                        <a:rPr lang="en-US" baseline="30000" dirty="0"/>
                        <a:t>3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295555"/>
                  </a:ext>
                </a:extLst>
              </a:tr>
              <a:tr h="824932">
                <a:tc>
                  <a:txBody>
                    <a:bodyPr/>
                    <a:lstStyle/>
                    <a:p>
                      <a:r>
                        <a:rPr lang="en-US" b="1" dirty="0"/>
                        <a:t>Volume initial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(20 Angstroms)</a:t>
                      </a:r>
                      <a:r>
                        <a:rPr lang="en-US" baseline="30000" dirty="0"/>
                        <a:t>3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692208"/>
                  </a:ext>
                </a:extLst>
              </a:tr>
              <a:tr h="759244">
                <a:tc>
                  <a:txBody>
                    <a:bodyPr/>
                    <a:lstStyle/>
                    <a:p>
                      <a:r>
                        <a:rPr lang="en-US" b="1" dirty="0"/>
                        <a:t>Thermostat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Berendsen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783697"/>
                  </a:ext>
                </a:extLst>
              </a:tr>
              <a:tr h="896940">
                <a:tc>
                  <a:txBody>
                    <a:bodyPr/>
                    <a:lstStyle/>
                    <a:p>
                      <a:r>
                        <a:rPr lang="en-US" b="1" dirty="0" err="1"/>
                        <a:t>Tmin</a:t>
                      </a:r>
                      <a:r>
                        <a:rPr lang="en-US" b="1" dirty="0"/>
                        <a:t>, </a:t>
                      </a:r>
                      <a:r>
                        <a:rPr lang="en-US" b="1" dirty="0" err="1"/>
                        <a:t>Tmax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 3000 K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744493"/>
                  </a:ext>
                </a:extLst>
              </a:tr>
              <a:tr h="759244">
                <a:tc>
                  <a:txBody>
                    <a:bodyPr/>
                    <a:lstStyle/>
                    <a:p>
                      <a:r>
                        <a:rPr lang="en-US" b="1" dirty="0"/>
                        <a:t>Position </a:t>
                      </a:r>
                      <a:r>
                        <a:rPr lang="en-US" b="1" dirty="0" err="1"/>
                        <a:t>initiale</a:t>
                      </a:r>
                      <a:r>
                        <a:rPr lang="en-US" b="1" dirty="0"/>
                        <a:t> (seed)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Aléatoire</a:t>
                      </a:r>
                      <a:r>
                        <a:rPr lang="en-US" dirty="0"/>
                        <a:t> 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159066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F68FE4-065B-8261-21CD-29BB173E8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7784" y="6356350"/>
            <a:ext cx="5400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fr-FR"/>
              <a:t>CONFERENCE - Ville, Pays - 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50C25A-C820-7033-FB95-4C14B3461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2400" y="6356350"/>
            <a:ext cx="7178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CB85A95-E1CC-4DC7-938C-5BF234670505}" type="slidenum">
              <a:rPr lang="fr-FR" smtClean="0"/>
              <a:pPr>
                <a:spcAft>
                  <a:spcPts val="600"/>
                </a:spcAft>
              </a:pPr>
              <a:t>9</a:t>
            </a:fld>
            <a:endParaRPr lang="fr-FR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0FA52BE1-301B-6B99-E010-C3A26A7F4657}"/>
              </a:ext>
            </a:extLst>
          </p:cNvPr>
          <p:cNvGraphicFramePr>
            <a:graphicFrameLocks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93723635"/>
              </p:ext>
            </p:extLst>
          </p:nvPr>
        </p:nvGraphicFramePr>
        <p:xfrm>
          <a:off x="4648200" y="1270000"/>
          <a:ext cx="4244974" cy="4808705"/>
        </p:xfrm>
        <a:graphic>
          <a:graphicData uri="http://schemas.openxmlformats.org/drawingml/2006/table">
            <a:tbl>
              <a:tblPr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{8A107856-5554-42FB-B03E-39F5DBC370BA}</a:tableStyleId>
              </a:tblPr>
              <a:tblGrid>
                <a:gridCol w="2122487">
                  <a:extLst>
                    <a:ext uri="{9D8B030D-6E8A-4147-A177-3AD203B41FA5}">
                      <a16:colId xmlns:a16="http://schemas.microsoft.com/office/drawing/2014/main" val="823330606"/>
                    </a:ext>
                  </a:extLst>
                </a:gridCol>
                <a:gridCol w="2122487">
                  <a:extLst>
                    <a:ext uri="{9D8B030D-6E8A-4147-A177-3AD203B41FA5}">
                      <a16:colId xmlns:a16="http://schemas.microsoft.com/office/drawing/2014/main" val="2630531319"/>
                    </a:ext>
                  </a:extLst>
                </a:gridCol>
              </a:tblGrid>
              <a:tr h="778861">
                <a:tc>
                  <a:txBody>
                    <a:bodyPr/>
                    <a:lstStyle/>
                    <a:p>
                      <a:r>
                        <a:rPr lang="en-US" dirty="0"/>
                        <a:t>Conditions aux </a:t>
                      </a:r>
                      <a:r>
                        <a:rPr lang="en-US" dirty="0" err="1"/>
                        <a:t>limites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err="1"/>
                        <a:t>Périodique</a:t>
                      </a:r>
                      <a:endParaRPr lang="fr-FR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257242"/>
                  </a:ext>
                </a:extLst>
              </a:tr>
              <a:tr h="778861">
                <a:tc>
                  <a:txBody>
                    <a:bodyPr/>
                    <a:lstStyle/>
                    <a:p>
                      <a:r>
                        <a:rPr lang="en-US" b="1" dirty="0" err="1"/>
                        <a:t>Potentiel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Rebo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969892"/>
                  </a:ext>
                </a:extLst>
              </a:tr>
              <a:tr h="778861">
                <a:tc>
                  <a:txBody>
                    <a:bodyPr/>
                    <a:lstStyle/>
                    <a:p>
                      <a:r>
                        <a:rPr lang="en-US" b="1" dirty="0" err="1"/>
                        <a:t>Sélection</a:t>
                      </a:r>
                      <a:r>
                        <a:rPr lang="en-US" b="1" dirty="0"/>
                        <a:t> des </a:t>
                      </a:r>
                      <a:r>
                        <a:rPr lang="en-US" b="1" dirty="0" err="1"/>
                        <a:t>voisins</a:t>
                      </a:r>
                      <a:r>
                        <a:rPr lang="en-US" b="1" dirty="0"/>
                        <a:t> et skin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Bin, 0.3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913107"/>
                  </a:ext>
                </a:extLst>
              </a:tr>
              <a:tr h="778861">
                <a:tc>
                  <a:txBody>
                    <a:bodyPr/>
                    <a:lstStyle/>
                    <a:p>
                      <a:r>
                        <a:rPr lang="en-US" b="1" dirty="0" err="1"/>
                        <a:t>Environnement</a:t>
                      </a:r>
                      <a:r>
                        <a:rPr lang="en-US" b="1" dirty="0"/>
                        <a:t> de </a:t>
                      </a:r>
                      <a:r>
                        <a:rPr lang="en-US" b="1" dirty="0" err="1"/>
                        <a:t>calcul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Tchenla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489432"/>
                  </a:ext>
                </a:extLst>
              </a:tr>
              <a:tr h="902773">
                <a:tc>
                  <a:txBody>
                    <a:bodyPr/>
                    <a:lstStyle/>
                    <a:p>
                      <a:r>
                        <a:rPr lang="en-US" b="1" dirty="0"/>
                        <a:t>Versions de LAMMPS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fr-FR" dirty="0"/>
                        <a:t>16 mars 2018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fr-FR" dirty="0"/>
                        <a:t>-    22 aout 2018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dirty="0"/>
                        <a:t>3 mars 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538057"/>
                  </a:ext>
                </a:extLst>
              </a:tr>
              <a:tr h="778861">
                <a:tc>
                  <a:txBody>
                    <a:bodyPr/>
                    <a:lstStyle/>
                    <a:p>
                      <a:r>
                        <a:rPr lang="en-US" b="1" dirty="0"/>
                        <a:t>Durée des phases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 ns, 100 </a:t>
                      </a:r>
                      <a:r>
                        <a:rPr lang="en-US" dirty="0" err="1"/>
                        <a:t>ps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262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7239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95177EF-0C51-D409-60DF-F27A7B871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88640"/>
            <a:ext cx="8568952" cy="792088"/>
          </a:xfrm>
        </p:spPr>
        <p:txBody>
          <a:bodyPr/>
          <a:lstStyle/>
          <a:p>
            <a:r>
              <a:rPr lang="en-US" sz="3600" dirty="0"/>
              <a:t>Clusters de Carbone les plus stables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89E0CED-690B-2E62-C16C-4E33C7A0851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1520" y="1270564"/>
            <a:ext cx="4244280" cy="4750723"/>
          </a:xfrm>
          <a:noFill/>
        </p:spPr>
      </p:pic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8EFD5FB7-1011-CEBE-494C-F5424D862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270564"/>
            <a:ext cx="4244280" cy="4855602"/>
          </a:xfrm>
        </p:spPr>
        <p:txBody>
          <a:bodyPr/>
          <a:lstStyle/>
          <a:p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clusters linéaires (C2 à C5)</a:t>
            </a:r>
          </a:p>
          <a:p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clusters monocycliques (C6 à C15)</a:t>
            </a:r>
          </a:p>
          <a:p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</a:t>
            </a:r>
            <a:r>
              <a:rPr lang="fr-FR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polycycles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(C16 à C19)</a:t>
            </a:r>
          </a:p>
          <a:p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graphènes-like (C20 à C29)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3D-polycycles et bowl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fullerènes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-like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990B41-4255-1427-23A9-F0C94B6AA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7784" y="6356350"/>
            <a:ext cx="5400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fr-FR"/>
              <a:t>CONFERENCE - Ville, Pays - 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F66DD-D4A0-50AE-FD76-77A323092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2400" y="6356350"/>
            <a:ext cx="7178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CB85A95-E1CC-4DC7-938C-5BF234670505}" type="slidenum">
              <a:rPr lang="fr-FR" smtClean="0"/>
              <a:pPr>
                <a:spcAft>
                  <a:spcPts val="600"/>
                </a:spcAft>
              </a:pPr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5119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54705-CC59-97C9-A010-CB1B94E55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8F31F-7B82-6F66-6F59-31F8C54E6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916910-3054-C635-6E8D-6FF9260B7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CONFERENCE - Ville, Pays - Date</a:t>
            </a:r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1A306D-58E4-CC98-D937-316FE0862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3819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ctrTitle"/>
          </p:nvPr>
        </p:nvSpPr>
        <p:spPr/>
        <p:txBody>
          <a:bodyPr anchor="ctr" anchorCtr="0">
            <a:normAutofit/>
          </a:bodyPr>
          <a:lstStyle/>
          <a:p>
            <a:pPr algn="ctr"/>
            <a:r>
              <a:rPr lang="fr-FR" sz="4000" dirty="0"/>
              <a:t>Merci de votre attention</a:t>
            </a:r>
          </a:p>
        </p:txBody>
      </p:sp>
      <p:sp>
        <p:nvSpPr>
          <p:cNvPr id="7" name="Sous-titre 6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pPr algn="l"/>
            <a:r>
              <a:rPr lang="fr-FR" dirty="0"/>
              <a:t>LSPM - CNRS</a:t>
            </a:r>
          </a:p>
          <a:p>
            <a:pPr algn="l"/>
            <a:r>
              <a:rPr lang="fr-FR" dirty="0"/>
              <a:t>Université Sorbonne Paris Nord</a:t>
            </a:r>
          </a:p>
          <a:p>
            <a:pPr algn="l"/>
            <a:r>
              <a:rPr lang="fr-FR" dirty="0"/>
              <a:t>99 Av J. B Clément </a:t>
            </a:r>
          </a:p>
          <a:p>
            <a:pPr algn="l"/>
            <a:r>
              <a:rPr lang="fr-FR" dirty="0"/>
              <a:t>93430 Villetaneuse</a:t>
            </a:r>
          </a:p>
          <a:p>
            <a:pPr algn="l"/>
            <a:r>
              <a:rPr lang="fr-FR" dirty="0"/>
              <a:t>France</a:t>
            </a:r>
          </a:p>
          <a:p>
            <a:pPr algn="l"/>
            <a:endParaRPr lang="fr-FR" dirty="0"/>
          </a:p>
          <a:p>
            <a:pPr algn="l"/>
            <a:r>
              <a:rPr lang="fr-FR" b="1" dirty="0">
                <a:solidFill>
                  <a:schemeClr val="tx2"/>
                </a:solidFill>
              </a:rPr>
              <a:t>www.lspm.cnrs.fr</a:t>
            </a:r>
          </a:p>
          <a:p>
            <a:pPr algn="l"/>
            <a:endParaRPr lang="fr-FR" dirty="0"/>
          </a:p>
          <a:p>
            <a:pPr algn="l">
              <a:tabLst>
                <a:tab pos="449263" algn="l"/>
              </a:tabLst>
            </a:pPr>
            <a:r>
              <a:rPr lang="fr-FR" dirty="0"/>
              <a:t>Tel: 	+33 1 49 40 </a:t>
            </a:r>
            <a:r>
              <a:rPr lang="fr-FR" dirty="0">
                <a:solidFill>
                  <a:srgbClr val="FF0000"/>
                </a:solidFill>
              </a:rPr>
              <a:t>xx </a:t>
            </a:r>
            <a:r>
              <a:rPr lang="fr-FR" dirty="0" err="1">
                <a:solidFill>
                  <a:srgbClr val="FF0000"/>
                </a:solidFill>
              </a:rPr>
              <a:t>xx</a:t>
            </a:r>
            <a:endParaRPr lang="fr-FR" dirty="0">
              <a:solidFill>
                <a:srgbClr val="FF0000"/>
              </a:solidFill>
            </a:endParaRPr>
          </a:p>
          <a:p>
            <a:pPr algn="l">
              <a:tabLst>
                <a:tab pos="449263" algn="l"/>
              </a:tabLst>
            </a:pPr>
            <a:r>
              <a:rPr lang="fr-FR" dirty="0"/>
              <a:t>Fax: 	+33 1 49 40 34 14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2" cstate="print"/>
          <a:srcRect l="33478" t="20297" r="23354" b="62968"/>
          <a:stretch>
            <a:fillRect/>
          </a:stretch>
        </p:blipFill>
        <p:spPr bwMode="auto">
          <a:xfrm>
            <a:off x="3131840" y="3645024"/>
            <a:ext cx="5616004" cy="1224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37229640"/>
      </p:ext>
    </p:extLst>
  </p:cSld>
  <p:clrMapOvr>
    <a:masterClrMapping/>
  </p:clrMapOvr>
</p:sld>
</file>

<file path=ppt/theme/theme1.xml><?xml version="1.0" encoding="utf-8"?>
<a:theme xmlns:a="http://schemas.openxmlformats.org/drawingml/2006/main" name="Conception personnalisée">
  <a:themeElements>
    <a:clrScheme name="Bleu 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Personnalisé 3">
      <a:majorFont>
        <a:latin typeface="Bookman Old Style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117696</TotalTime>
  <Words>535</Words>
  <Application>Microsoft Office PowerPoint</Application>
  <PresentationFormat>On-screen Show (4:3)</PresentationFormat>
  <Paragraphs>106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Bookman Old Style</vt:lpstr>
      <vt:lpstr>Calibri</vt:lpstr>
      <vt:lpstr>Garamond</vt:lpstr>
      <vt:lpstr>Georgia</vt:lpstr>
      <vt:lpstr>Times New Roman</vt:lpstr>
      <vt:lpstr>Conception personnalisée</vt:lpstr>
      <vt:lpstr>Étude des structures et de la cinétique de croissance d’édifices atomiques par dynamique moléculaire classique</vt:lpstr>
      <vt:lpstr>La Dynamique Moléculaire classique</vt:lpstr>
      <vt:lpstr>Objectifs du stage</vt:lpstr>
      <vt:lpstr>Plan de la soutenance</vt:lpstr>
      <vt:lpstr>Interactions atomiques et termes du potentiel</vt:lpstr>
      <vt:lpstr>Condensation et Recuit Combinés (CRC)</vt:lpstr>
      <vt:lpstr>Logiciels utilisés </vt:lpstr>
      <vt:lpstr>Structure d’un script LAMMPS</vt:lpstr>
      <vt:lpstr>Paramètres des calculs de la docteure Allouch</vt:lpstr>
      <vt:lpstr>Clusters de Carbone les plus stables</vt:lpstr>
      <vt:lpstr>PowerPoint Presentation</vt:lpstr>
      <vt:lpstr>Merci de votre attention</vt:lpstr>
    </vt:vector>
  </TitlesOfParts>
  <Company>SUT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Cellule COM</dc:creator>
  <cp:lastModifiedBy>Assann Dede</cp:lastModifiedBy>
  <cp:revision>315</cp:revision>
  <cp:lastPrinted>2013-05-06T12:00:57Z</cp:lastPrinted>
  <dcterms:created xsi:type="dcterms:W3CDTF">2011-05-04T11:21:16Z</dcterms:created>
  <dcterms:modified xsi:type="dcterms:W3CDTF">2024-07-02T00:44:41Z</dcterms:modified>
</cp:coreProperties>
</file>